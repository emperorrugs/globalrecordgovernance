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GRGF is a patented Digital Public Infrastructure system that records institutional reality immutably. Position as the missing trust layer — not a startup product, but critical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not a technology problem — it is an infrastructure gap. Governments have identity layers, payment layers, but no truth layer. Every record system today allows silent modification. GRGF closes this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Three-word thesis: Record, Lock, Verify. This is the entire product in three words. Every governance event is captured, cryptographically sealed, and independently verifiable. No interpretation. No AI decisions. Pure evidence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Show the live platform. Create a record, seal it, copy the verification token, open the public verifier, paste the token — integrity confirmed. Then show tamper detection: modify one character and watch the hash mismatch appear in real time. This is not a mockup — it is a functional system validated at TRL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is structural, not opportunistic. The World Bank's GTMI tracks DPI adoption across 140+ countries. OECD Policy Paper 68 explicitly identifies the need for governance integrity layers. As AI-generated content proliferates, the ability to prove that a governance record was created by a real institution at a specific time becomes a critical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overview: Six layers, each with a specific function. Normalization ensures structured input. Authority binding links every action to its legal basis. Record commitment creates the cryptographic chain. Verification enables internal and public integrity checks. Federation supports cross-jurisdictional trust. Audit logs everything with integrity hashing.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cases span every sector where governance decisions must be recorded with integrity. Procurement alone represents billions in government spending globally. Each sector has specific record types, authority contexts, and verification requirements — GRGF handles all of them through its configurable record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GRGF is not competing with ERPs or blockchains. It is a new category: governance evidence infrastructure. ERPs manage operations but cannot prove integrity. Blockchains provide immutability but require token economics and lack sovereign control. GRGF provides deterministic integrity with full sovereign deployment — no tokens, no consensus mechanisms, no foreign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model is institutional, not consumer. Primary revenue comes from government deployment contracts. Secondary revenue from module licensing (sector-specific configurations), verification APIs (per-verification or subscription), academy programs, and federation network licensing. The TAM is the entire global governance technology market — every government that records decisions is a potential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GRGF is patented, validated, and ready for pilot deployment. We are seeking strategic investment to scale from proof-of-concept to production infrastructure. The opportunity is to become the trust layer for global governance — the missing piece of Digital Public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9A84C"/>
          </a:solidFill>
          <a:ln/>
        </p:spPr>
      </p:sp>
      <p:sp>
        <p:nvSpPr>
          <p:cNvPr id="3" name="Shape 1"/>
          <p:cNvSpPr/>
          <p:nvPr/>
        </p:nvSpPr>
        <p:spPr>
          <a:xfrm>
            <a:off x="0" y="4663440"/>
            <a:ext cx="9144000" cy="484632"/>
          </a:xfrm>
          <a:prstGeom prst="rect">
            <a:avLst/>
          </a:prstGeom>
          <a:solidFill>
            <a:srgbClr val="0D1520"/>
          </a:solidFill>
          <a:ln/>
        </p:spPr>
      </p:sp>
      <p:sp>
        <p:nvSpPr>
          <p:cNvPr id="4" name="Text 2"/>
          <p:cNvSpPr/>
          <p:nvPr/>
        </p:nvSpPr>
        <p:spPr>
          <a:xfrm>
            <a:off x="640080" y="1097280"/>
            <a:ext cx="786384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GRGF</a:t>
            </a:r>
            <a:endParaRPr lang="en-US" sz="6000" dirty="0"/>
          </a:p>
        </p:txBody>
      </p:sp>
      <p:sp>
        <p:nvSpPr>
          <p:cNvPr id="5" name="Shape 3"/>
          <p:cNvSpPr/>
          <p:nvPr/>
        </p:nvSpPr>
        <p:spPr>
          <a:xfrm>
            <a:off x="640080" y="2286000"/>
            <a:ext cx="1828800" cy="45720"/>
          </a:xfrm>
          <a:prstGeom prst="rect">
            <a:avLst/>
          </a:prstGeom>
          <a:solidFill>
            <a:srgbClr val="C9A84C"/>
          </a:solidFill>
          <a:ln/>
        </p:spPr>
      </p:sp>
      <p:sp>
        <p:nvSpPr>
          <p:cNvPr id="6" name="Text 4"/>
          <p:cNvSpPr/>
          <p:nvPr/>
        </p:nvSpPr>
        <p:spPr>
          <a:xfrm>
            <a:off x="640080" y="2468880"/>
            <a:ext cx="7863840" cy="548640"/>
          </a:xfrm>
          <a:prstGeom prst="rect">
            <a:avLst/>
          </a:prstGeom>
          <a:noFill/>
          <a:ln/>
        </p:spPr>
        <p:txBody>
          <a:bodyPr wrap="square" lIns="0" tIns="0" rIns="0" bIns="0" rtlCol="0" anchor="ctr"/>
          <a:lstStyle/>
          <a:p>
            <a:pPr indent="0" marL="0">
              <a:buNone/>
            </a:pPr>
            <a:r>
              <a:rPr lang="en-US" sz="2200" dirty="0">
                <a:solidFill>
                  <a:srgbClr val="E2E8F0"/>
                </a:solidFill>
                <a:latin typeface="Arial" pitchFamily="34" charset="0"/>
                <a:ea typeface="Arial" pitchFamily="34" charset="-122"/>
                <a:cs typeface="Arial" pitchFamily="34" charset="-120"/>
              </a:rPr>
              <a:t>Global Record Governance Framework</a:t>
            </a:r>
            <a:endParaRPr lang="en-US" sz="2200" dirty="0"/>
          </a:p>
        </p:txBody>
      </p:sp>
      <p:sp>
        <p:nvSpPr>
          <p:cNvPr id="7" name="Text 5"/>
          <p:cNvSpPr/>
          <p:nvPr/>
        </p:nvSpPr>
        <p:spPr>
          <a:xfrm>
            <a:off x="640080" y="3017520"/>
            <a:ext cx="786384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The Trust Layer for Digital Public Infrastructure</a:t>
            </a:r>
            <a:endParaRPr lang="en-US" sz="1400" dirty="0"/>
          </a:p>
        </p:txBody>
      </p:sp>
      <p:sp>
        <p:nvSpPr>
          <p:cNvPr id="8" name="Text 6"/>
          <p:cNvSpPr/>
          <p:nvPr/>
        </p:nvSpPr>
        <p:spPr>
          <a:xfrm>
            <a:off x="640080" y="4727448"/>
            <a:ext cx="3657600" cy="32004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Investor Briefing — March 2026</a:t>
            </a:r>
            <a:endParaRPr lang="en-US" sz="1000" dirty="0"/>
          </a:p>
        </p:txBody>
      </p:sp>
      <p:sp>
        <p:nvSpPr>
          <p:cNvPr id="9" name="Text 7"/>
          <p:cNvSpPr/>
          <p:nvPr/>
        </p:nvSpPr>
        <p:spPr>
          <a:xfrm>
            <a:off x="4572000" y="4727448"/>
            <a:ext cx="4114800"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Canadian Patent No. CA 3,300,102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Problem</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Why governance records fail</a:t>
            </a:r>
            <a:endParaRPr lang="en-US" sz="1200" dirty="0"/>
          </a:p>
        </p:txBody>
      </p:sp>
      <p:sp>
        <p:nvSpPr>
          <p:cNvPr id="9" name="Text 7"/>
          <p:cNvSpPr/>
          <p:nvPr/>
        </p:nvSpPr>
        <p:spPr>
          <a:xfrm>
            <a:off x="640080" y="1463040"/>
            <a:ext cx="7863840" cy="2926080"/>
          </a:xfrm>
          <a:prstGeom prst="rect">
            <a:avLst/>
          </a:prstGeom>
          <a:noFill/>
          <a:ln/>
        </p:spPr>
        <p:txBody>
          <a:bodyPr wrap="square" rtlCol="0" anchor="t"/>
          <a:lstStyle/>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Institutional records can be silently modified after the fact — no tamper detection exists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Audit trails are incomplete, inconsistent, or entirely absent across government systems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Cross-agency verification requires manual coordination — no common integrity standard</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Omissions (actions not taken) are invisible in current systems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Public trust in institutional decisions is declining globally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Solution</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Record. Lock. Verify.</a:t>
            </a:r>
            <a:endParaRPr lang="en-US" sz="1200" dirty="0"/>
          </a:p>
        </p:txBody>
      </p:sp>
      <p:sp>
        <p:nvSpPr>
          <p:cNvPr id="9" name="Text 7"/>
          <p:cNvSpPr/>
          <p:nvPr/>
        </p:nvSpPr>
        <p:spPr>
          <a:xfrm>
            <a:off x="640080" y="1371600"/>
            <a:ext cx="7863840" cy="3200400"/>
          </a:xfrm>
          <a:prstGeom prst="rect">
            <a:avLst/>
          </a:prstGeom>
          <a:noFill/>
          <a:ln/>
        </p:spPr>
        <p:txBody>
          <a:bodyPr wrap="square" rtlCol="0" anchor="t"/>
          <a:lstStyle/>
          <a:p>
            <a:pPr indent="0" marL="0">
              <a:lnSpc>
                <a:spcPct val="120000"/>
              </a:lnSpc>
              <a:buNone/>
            </a:pPr>
            <a:r>
              <a:rPr lang="en-US" sz="2000" b="1" dirty="0">
                <a:solidFill>
                  <a:srgbClr val="0EA5E9"/>
                </a:solidFill>
                <a:latin typeface="Arial" pitchFamily="34" charset="0"/>
                <a:ea typeface="Arial" pitchFamily="34" charset="-122"/>
                <a:cs typeface="Arial" pitchFamily="34" charset="-120"/>
              </a:rPr>
              <a:t>RECORD</a:t>
            </a:r>
            <a:endParaRPr lang="en-US" sz="2000" dirty="0"/>
          </a:p>
          <a:p>
            <a:pPr indent="0" marL="0">
              <a:lnSpc>
                <a:spcPct val="120000"/>
              </a:lnSpc>
              <a:buNone/>
            </a:pPr>
            <a:r>
              <a:rPr lang="en-US" sz="1300" dirty="0">
                <a:solidFill>
                  <a:srgbClr val="E2E8F0"/>
                </a:solidFill>
                <a:latin typeface="Arial" pitchFamily="34" charset="0"/>
                <a:ea typeface="Arial" pitchFamily="34" charset="-122"/>
                <a:cs typeface="Arial" pitchFamily="34" charset="-120"/>
              </a:rPr>
              <a:t>Capture governance events at execution time with full context</a:t>
            </a:r>
            <a:endParaRPr lang="en-US" sz="2000" dirty="0"/>
          </a:p>
          <a:p>
            <a:pPr indent="0" marL="0">
              <a:lnSpc>
                <a:spcPct val="120000"/>
              </a:lnSpc>
              <a:buNone/>
            </a:pPr>
            <a:endParaRPr lang="en-US" sz="2000" dirty="0"/>
          </a:p>
          <a:p>
            <a:pPr indent="0" marL="0">
              <a:lnSpc>
                <a:spcPct val="120000"/>
              </a:lnSpc>
              <a:buNone/>
            </a:pPr>
            <a:r>
              <a:rPr lang="en-US" sz="2000" b="1" dirty="0">
                <a:solidFill>
                  <a:srgbClr val="C9A84C"/>
                </a:solidFill>
                <a:latin typeface="Arial" pitchFamily="34" charset="0"/>
                <a:ea typeface="Arial" pitchFamily="34" charset="-122"/>
                <a:cs typeface="Arial" pitchFamily="34" charset="-120"/>
              </a:rPr>
              <a:t>LOCK</a:t>
            </a:r>
            <a:endParaRPr lang="en-US" sz="2000" dirty="0"/>
          </a:p>
          <a:p>
            <a:pPr indent="0" marL="0">
              <a:lnSpc>
                <a:spcPct val="120000"/>
              </a:lnSpc>
              <a:buNone/>
            </a:pPr>
            <a:r>
              <a:rPr lang="en-US" sz="1300" dirty="0">
                <a:solidFill>
                  <a:srgbClr val="E2E8F0"/>
                </a:solidFill>
                <a:latin typeface="Arial" pitchFamily="34" charset="0"/>
                <a:ea typeface="Arial" pitchFamily="34" charset="-122"/>
                <a:cs typeface="Arial" pitchFamily="34" charset="-120"/>
              </a:rPr>
              <a:t>Seal records with SHA-256 cryptographic hashing — immutable</a:t>
            </a:r>
            <a:endParaRPr lang="en-US" sz="2000" dirty="0"/>
          </a:p>
          <a:p>
            <a:pPr indent="0" marL="0">
              <a:lnSpc>
                <a:spcPct val="120000"/>
              </a:lnSpc>
              <a:buNone/>
            </a:pPr>
            <a:endParaRPr lang="en-US" sz="2000" dirty="0"/>
          </a:p>
          <a:p>
            <a:pPr indent="0" marL="0">
              <a:lnSpc>
                <a:spcPct val="120000"/>
              </a:lnSpc>
              <a:buNone/>
            </a:pPr>
            <a:r>
              <a:rPr lang="en-US" sz="2000" b="1" dirty="0">
                <a:solidFill>
                  <a:srgbClr val="22C55E"/>
                </a:solidFill>
                <a:latin typeface="Arial" pitchFamily="34" charset="0"/>
                <a:ea typeface="Arial" pitchFamily="34" charset="-122"/>
                <a:cs typeface="Arial" pitchFamily="34" charset="-120"/>
              </a:rPr>
              <a:t>VERIFY</a:t>
            </a:r>
            <a:endParaRPr lang="en-US" sz="2000" dirty="0"/>
          </a:p>
          <a:p>
            <a:pPr indent="0" marL="0">
              <a:lnSpc>
                <a:spcPct val="120000"/>
              </a:lnSpc>
              <a:buNone/>
            </a:pPr>
            <a:r>
              <a:rPr lang="en-US" sz="1300" dirty="0">
                <a:solidFill>
                  <a:srgbClr val="E2E8F0"/>
                </a:solidFill>
                <a:latin typeface="Arial" pitchFamily="34" charset="0"/>
                <a:ea typeface="Arial" pitchFamily="34" charset="-122"/>
                <a:cs typeface="Arial" pitchFamily="34" charset="-120"/>
              </a:rPr>
              <a:t>Anyone can independently confirm record integrity and provenance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Product Demonstration</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Proven at TRL 6 — 13/13 tests passed</a:t>
            </a:r>
            <a:endParaRPr lang="en-US" sz="1200" dirty="0"/>
          </a:p>
        </p:txBody>
      </p:sp>
      <p:sp>
        <p:nvSpPr>
          <p:cNvPr id="9" name="Text 7"/>
          <p:cNvSpPr/>
          <p:nvPr/>
        </p:nvSpPr>
        <p:spPr>
          <a:xfrm>
            <a:off x="640080" y="1371600"/>
            <a:ext cx="7863840" cy="2926080"/>
          </a:xfrm>
          <a:prstGeom prst="rect">
            <a:avLst/>
          </a:prstGeom>
          <a:noFill/>
          <a:ln/>
        </p:spPr>
        <p:txBody>
          <a:bodyPr wrap="square" rtlCol="0" anchor="t"/>
          <a:lstStyle/>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Create a governance record with structured metadata and authority context</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System computes SHA-256 hash and links to predecessor (append-only chain)</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Submit → Review → Approve → Seal lifecycle with full audit trail</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Public verification by token — confirms integrity without exposing content</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Tamper simulation: modify any field → system detects hash mismatch instantly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Why Now</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Market timing and structural drivers</a:t>
            </a:r>
            <a:endParaRPr lang="en-US" sz="1200" dirty="0"/>
          </a:p>
        </p:txBody>
      </p:sp>
      <p:sp>
        <p:nvSpPr>
          <p:cNvPr id="9" name="Text 7"/>
          <p:cNvSpPr/>
          <p:nvPr/>
        </p:nvSpPr>
        <p:spPr>
          <a:xfrm>
            <a:off x="640080" y="1371600"/>
            <a:ext cx="7863840" cy="2926080"/>
          </a:xfrm>
          <a:prstGeom prst="rect">
            <a:avLst/>
          </a:prstGeom>
          <a:noFill/>
          <a:ln/>
        </p:spPr>
        <p:txBody>
          <a:bodyPr wrap="square" rtlCol="0" anchor="t"/>
          <a:lstStyle/>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DPI maturity: 140+ countries investing in digital public infrastructure (World Bank, OECD)</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Trust crisis: declining public confidence in institutional transparency globally</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Audit pressure: regulators demanding verifiable evidence, not just reports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Cross-agency complexity: federated governance requires interoperable trust layers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AI acceleration: as AI generates more content, provable human-institutional records become critical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Architecture</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Six-layer deterministic engine</a:t>
            </a:r>
            <a:endParaRPr lang="en-US" sz="1200" dirty="0"/>
          </a:p>
        </p:txBody>
      </p:sp>
      <p:sp>
        <p:nvSpPr>
          <p:cNvPr id="9" name="Shape 7"/>
          <p:cNvSpPr/>
          <p:nvPr/>
        </p:nvSpPr>
        <p:spPr>
          <a:xfrm>
            <a:off x="640080" y="1280160"/>
            <a:ext cx="2011680" cy="411480"/>
          </a:xfrm>
          <a:prstGeom prst="roundRect">
            <a:avLst>
              <a:gd name="adj" fmla="val 11111"/>
            </a:avLst>
          </a:prstGeom>
          <a:solidFill>
            <a:srgbClr val="1A2744"/>
          </a:solidFill>
          <a:ln w="6350">
            <a:solidFill>
              <a:srgbClr val="C9A84C"/>
            </a:solidFill>
            <a:prstDash val="solid"/>
          </a:ln>
        </p:spPr>
      </p:sp>
      <p:sp>
        <p:nvSpPr>
          <p:cNvPr id="10" name="Text 8"/>
          <p:cNvSpPr/>
          <p:nvPr/>
        </p:nvSpPr>
        <p:spPr>
          <a:xfrm>
            <a:off x="640080" y="128016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Normalization</a:t>
            </a:r>
            <a:endParaRPr lang="en-US" sz="1100" dirty="0"/>
          </a:p>
        </p:txBody>
      </p:sp>
      <p:sp>
        <p:nvSpPr>
          <p:cNvPr id="11" name="Text 9"/>
          <p:cNvSpPr/>
          <p:nvPr/>
        </p:nvSpPr>
        <p:spPr>
          <a:xfrm>
            <a:off x="2834640" y="128016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Structured event capture with mandatory context fields</a:t>
            </a:r>
            <a:endParaRPr lang="en-US" sz="1100" dirty="0"/>
          </a:p>
        </p:txBody>
      </p:sp>
      <p:sp>
        <p:nvSpPr>
          <p:cNvPr id="12" name="Shape 10"/>
          <p:cNvSpPr/>
          <p:nvPr/>
        </p:nvSpPr>
        <p:spPr>
          <a:xfrm>
            <a:off x="640080" y="1828800"/>
            <a:ext cx="2011680" cy="411480"/>
          </a:xfrm>
          <a:prstGeom prst="roundRect">
            <a:avLst>
              <a:gd name="adj" fmla="val 11111"/>
            </a:avLst>
          </a:prstGeom>
          <a:solidFill>
            <a:srgbClr val="1A2744"/>
          </a:solidFill>
          <a:ln w="6350">
            <a:solidFill>
              <a:srgbClr val="C9A84C"/>
            </a:solidFill>
            <a:prstDash val="solid"/>
          </a:ln>
        </p:spPr>
      </p:sp>
      <p:sp>
        <p:nvSpPr>
          <p:cNvPr id="13" name="Text 11"/>
          <p:cNvSpPr/>
          <p:nvPr/>
        </p:nvSpPr>
        <p:spPr>
          <a:xfrm>
            <a:off x="640080" y="182880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Authority Binding</a:t>
            </a:r>
            <a:endParaRPr lang="en-US" sz="1100" dirty="0"/>
          </a:p>
        </p:txBody>
      </p:sp>
      <p:sp>
        <p:nvSpPr>
          <p:cNvPr id="14" name="Text 12"/>
          <p:cNvSpPr/>
          <p:nvPr/>
        </p:nvSpPr>
        <p:spPr>
          <a:xfrm>
            <a:off x="2834640" y="182880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Links records to mandate, delegation, or legal basis</a:t>
            </a:r>
            <a:endParaRPr lang="en-US" sz="1100" dirty="0"/>
          </a:p>
        </p:txBody>
      </p:sp>
      <p:sp>
        <p:nvSpPr>
          <p:cNvPr id="15" name="Shape 13"/>
          <p:cNvSpPr/>
          <p:nvPr/>
        </p:nvSpPr>
        <p:spPr>
          <a:xfrm>
            <a:off x="640080" y="2377440"/>
            <a:ext cx="2011680" cy="411480"/>
          </a:xfrm>
          <a:prstGeom prst="roundRect">
            <a:avLst>
              <a:gd name="adj" fmla="val 11111"/>
            </a:avLst>
          </a:prstGeom>
          <a:solidFill>
            <a:srgbClr val="1A2744"/>
          </a:solidFill>
          <a:ln w="6350">
            <a:solidFill>
              <a:srgbClr val="C9A84C"/>
            </a:solidFill>
            <a:prstDash val="solid"/>
          </a:ln>
        </p:spPr>
      </p:sp>
      <p:sp>
        <p:nvSpPr>
          <p:cNvPr id="16" name="Text 14"/>
          <p:cNvSpPr/>
          <p:nvPr/>
        </p:nvSpPr>
        <p:spPr>
          <a:xfrm>
            <a:off x="640080" y="237744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Record Commitment</a:t>
            </a:r>
            <a:endParaRPr lang="en-US" sz="1100" dirty="0"/>
          </a:p>
        </p:txBody>
      </p:sp>
      <p:sp>
        <p:nvSpPr>
          <p:cNvPr id="17" name="Text 15"/>
          <p:cNvSpPr/>
          <p:nvPr/>
        </p:nvSpPr>
        <p:spPr>
          <a:xfrm>
            <a:off x="2834640" y="237744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Append-only evidence backbone with SHA-256 chain</a:t>
            </a:r>
            <a:endParaRPr lang="en-US" sz="1100" dirty="0"/>
          </a:p>
        </p:txBody>
      </p:sp>
      <p:sp>
        <p:nvSpPr>
          <p:cNvPr id="18" name="Shape 16"/>
          <p:cNvSpPr/>
          <p:nvPr/>
        </p:nvSpPr>
        <p:spPr>
          <a:xfrm>
            <a:off x="640080" y="2926080"/>
            <a:ext cx="2011680" cy="411480"/>
          </a:xfrm>
          <a:prstGeom prst="roundRect">
            <a:avLst>
              <a:gd name="adj" fmla="val 11111"/>
            </a:avLst>
          </a:prstGeom>
          <a:solidFill>
            <a:srgbClr val="1A2744"/>
          </a:solidFill>
          <a:ln w="6350">
            <a:solidFill>
              <a:srgbClr val="C9A84C"/>
            </a:solidFill>
            <a:prstDash val="solid"/>
          </a:ln>
        </p:spPr>
      </p:sp>
      <p:sp>
        <p:nvSpPr>
          <p:cNvPr id="19" name="Text 17"/>
          <p:cNvSpPr/>
          <p:nvPr/>
        </p:nvSpPr>
        <p:spPr>
          <a:xfrm>
            <a:off x="640080" y="292608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Verification</a:t>
            </a:r>
            <a:endParaRPr lang="en-US" sz="1100" dirty="0"/>
          </a:p>
        </p:txBody>
      </p:sp>
      <p:sp>
        <p:nvSpPr>
          <p:cNvPr id="20" name="Text 18"/>
          <p:cNvSpPr/>
          <p:nvPr/>
        </p:nvSpPr>
        <p:spPr>
          <a:xfrm>
            <a:off x="2834640" y="292608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Internal and public verification with receipt generation</a:t>
            </a:r>
            <a:endParaRPr lang="en-US" sz="1100" dirty="0"/>
          </a:p>
        </p:txBody>
      </p:sp>
      <p:sp>
        <p:nvSpPr>
          <p:cNvPr id="21" name="Shape 19"/>
          <p:cNvSpPr/>
          <p:nvPr/>
        </p:nvSpPr>
        <p:spPr>
          <a:xfrm>
            <a:off x="640080" y="3474720"/>
            <a:ext cx="2011680" cy="411480"/>
          </a:xfrm>
          <a:prstGeom prst="roundRect">
            <a:avLst>
              <a:gd name="adj" fmla="val 11111"/>
            </a:avLst>
          </a:prstGeom>
          <a:solidFill>
            <a:srgbClr val="1A2744"/>
          </a:solidFill>
          <a:ln w="6350">
            <a:solidFill>
              <a:srgbClr val="C9A84C"/>
            </a:solidFill>
            <a:prstDash val="solid"/>
          </a:ln>
        </p:spPr>
      </p:sp>
      <p:sp>
        <p:nvSpPr>
          <p:cNvPr id="22" name="Text 20"/>
          <p:cNvSpPr/>
          <p:nvPr/>
        </p:nvSpPr>
        <p:spPr>
          <a:xfrm>
            <a:off x="640080" y="347472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Federation</a:t>
            </a:r>
            <a:endParaRPr lang="en-US" sz="1100" dirty="0"/>
          </a:p>
        </p:txBody>
      </p:sp>
      <p:sp>
        <p:nvSpPr>
          <p:cNvPr id="23" name="Text 21"/>
          <p:cNvSpPr/>
          <p:nvPr/>
        </p:nvSpPr>
        <p:spPr>
          <a:xfrm>
            <a:off x="2834640" y="347472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Cross-jurisdictional verification without data sharing</a:t>
            </a:r>
            <a:endParaRPr lang="en-US" sz="1100" dirty="0"/>
          </a:p>
        </p:txBody>
      </p:sp>
      <p:sp>
        <p:nvSpPr>
          <p:cNvPr id="24" name="Shape 22"/>
          <p:cNvSpPr/>
          <p:nvPr/>
        </p:nvSpPr>
        <p:spPr>
          <a:xfrm>
            <a:off x="640080" y="4023360"/>
            <a:ext cx="2011680" cy="411480"/>
          </a:xfrm>
          <a:prstGeom prst="roundRect">
            <a:avLst>
              <a:gd name="adj" fmla="val 11111"/>
            </a:avLst>
          </a:prstGeom>
          <a:solidFill>
            <a:srgbClr val="1A2744"/>
          </a:solidFill>
          <a:ln w="6350">
            <a:solidFill>
              <a:srgbClr val="C9A84C"/>
            </a:solidFill>
            <a:prstDash val="solid"/>
          </a:ln>
        </p:spPr>
      </p:sp>
      <p:sp>
        <p:nvSpPr>
          <p:cNvPr id="25" name="Text 23"/>
          <p:cNvSpPr/>
          <p:nvPr/>
        </p:nvSpPr>
        <p:spPr>
          <a:xfrm>
            <a:off x="640080" y="4023360"/>
            <a:ext cx="2011680" cy="411480"/>
          </a:xfrm>
          <a:prstGeom prst="rect">
            <a:avLst/>
          </a:prstGeom>
          <a:noFill/>
          <a:ln/>
        </p:spPr>
        <p:txBody>
          <a:bodyPr wrap="square" lIns="0" tIns="0" rIns="0" bIns="0" rtlCol="0" anchor="ctr"/>
          <a:lstStyle/>
          <a:p>
            <a:pPr algn="ctr" indent="0" marL="0">
              <a:buNone/>
            </a:pPr>
            <a:r>
              <a:rPr lang="en-US" sz="1100" b="1" dirty="0">
                <a:solidFill>
                  <a:srgbClr val="C9A84C"/>
                </a:solidFill>
                <a:latin typeface="Arial" pitchFamily="34" charset="0"/>
                <a:ea typeface="Arial" pitchFamily="34" charset="-122"/>
                <a:cs typeface="Arial" pitchFamily="34" charset="-120"/>
              </a:rPr>
              <a:t>Audit</a:t>
            </a:r>
            <a:endParaRPr lang="en-US" sz="1100" dirty="0"/>
          </a:p>
        </p:txBody>
      </p:sp>
      <p:sp>
        <p:nvSpPr>
          <p:cNvPr id="26" name="Text 24"/>
          <p:cNvSpPr/>
          <p:nvPr/>
        </p:nvSpPr>
        <p:spPr>
          <a:xfrm>
            <a:off x="2834640" y="4023360"/>
            <a:ext cx="594360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Integrity-hashed event log for every critical action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Use Cases</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Institutional deployment scenarios</a:t>
            </a:r>
            <a:endParaRPr lang="en-US" sz="1200" dirty="0"/>
          </a:p>
        </p:txBody>
      </p:sp>
      <p:sp>
        <p:nvSpPr>
          <p:cNvPr id="9" name="Shape 7"/>
          <p:cNvSpPr/>
          <p:nvPr/>
        </p:nvSpPr>
        <p:spPr>
          <a:xfrm>
            <a:off x="640080" y="1280160"/>
            <a:ext cx="1645920" cy="365760"/>
          </a:xfrm>
          <a:prstGeom prst="roundRect">
            <a:avLst>
              <a:gd name="adj" fmla="val 12500"/>
            </a:avLst>
          </a:prstGeom>
          <a:solidFill>
            <a:srgbClr val="0D1520"/>
          </a:solidFill>
          <a:ln/>
        </p:spPr>
      </p:sp>
      <p:sp>
        <p:nvSpPr>
          <p:cNvPr id="10" name="Text 8"/>
          <p:cNvSpPr/>
          <p:nvPr/>
        </p:nvSpPr>
        <p:spPr>
          <a:xfrm>
            <a:off x="640080" y="1280160"/>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Procurement</a:t>
            </a:r>
            <a:endParaRPr lang="en-US" sz="1100" dirty="0"/>
          </a:p>
        </p:txBody>
      </p:sp>
      <p:sp>
        <p:nvSpPr>
          <p:cNvPr id="11" name="Text 9"/>
          <p:cNvSpPr/>
          <p:nvPr/>
        </p:nvSpPr>
        <p:spPr>
          <a:xfrm>
            <a:off x="2468880" y="1280160"/>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Tamper-proof bid evaluations and contract awards</a:t>
            </a:r>
            <a:endParaRPr lang="en-US" sz="1100" dirty="0"/>
          </a:p>
        </p:txBody>
      </p:sp>
      <p:sp>
        <p:nvSpPr>
          <p:cNvPr id="12" name="Shape 10"/>
          <p:cNvSpPr/>
          <p:nvPr/>
        </p:nvSpPr>
        <p:spPr>
          <a:xfrm>
            <a:off x="640080" y="1755648"/>
            <a:ext cx="1645920" cy="365760"/>
          </a:xfrm>
          <a:prstGeom prst="roundRect">
            <a:avLst>
              <a:gd name="adj" fmla="val 12500"/>
            </a:avLst>
          </a:prstGeom>
          <a:solidFill>
            <a:srgbClr val="0D1520"/>
          </a:solidFill>
          <a:ln/>
        </p:spPr>
      </p:sp>
      <p:sp>
        <p:nvSpPr>
          <p:cNvPr id="13" name="Text 11"/>
          <p:cNvSpPr/>
          <p:nvPr/>
        </p:nvSpPr>
        <p:spPr>
          <a:xfrm>
            <a:off x="640080" y="1755648"/>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Inspections</a:t>
            </a:r>
            <a:endParaRPr lang="en-US" sz="1100" dirty="0"/>
          </a:p>
        </p:txBody>
      </p:sp>
      <p:sp>
        <p:nvSpPr>
          <p:cNvPr id="14" name="Text 12"/>
          <p:cNvSpPr/>
          <p:nvPr/>
        </p:nvSpPr>
        <p:spPr>
          <a:xfrm>
            <a:off x="2468880" y="1755648"/>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Execution-time capture of compliance findings and omissions</a:t>
            </a:r>
            <a:endParaRPr lang="en-US" sz="1100" dirty="0"/>
          </a:p>
        </p:txBody>
      </p:sp>
      <p:sp>
        <p:nvSpPr>
          <p:cNvPr id="15" name="Shape 13"/>
          <p:cNvSpPr/>
          <p:nvPr/>
        </p:nvSpPr>
        <p:spPr>
          <a:xfrm>
            <a:off x="640080" y="2231136"/>
            <a:ext cx="1645920" cy="365760"/>
          </a:xfrm>
          <a:prstGeom prst="roundRect">
            <a:avLst>
              <a:gd name="adj" fmla="val 12500"/>
            </a:avLst>
          </a:prstGeom>
          <a:solidFill>
            <a:srgbClr val="0D1520"/>
          </a:solidFill>
          <a:ln/>
        </p:spPr>
      </p:sp>
      <p:sp>
        <p:nvSpPr>
          <p:cNvPr id="16" name="Text 14"/>
          <p:cNvSpPr/>
          <p:nvPr/>
        </p:nvSpPr>
        <p:spPr>
          <a:xfrm>
            <a:off x="640080" y="2231136"/>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Courts &amp; Tribunals</a:t>
            </a:r>
            <a:endParaRPr lang="en-US" sz="1100" dirty="0"/>
          </a:p>
        </p:txBody>
      </p:sp>
      <p:sp>
        <p:nvSpPr>
          <p:cNvPr id="17" name="Text 15"/>
          <p:cNvSpPr/>
          <p:nvPr/>
        </p:nvSpPr>
        <p:spPr>
          <a:xfrm>
            <a:off x="2468880" y="2231136"/>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Sealed administrative decisions with public verification</a:t>
            </a:r>
            <a:endParaRPr lang="en-US" sz="1100" dirty="0"/>
          </a:p>
        </p:txBody>
      </p:sp>
      <p:sp>
        <p:nvSpPr>
          <p:cNvPr id="18" name="Shape 16"/>
          <p:cNvSpPr/>
          <p:nvPr/>
        </p:nvSpPr>
        <p:spPr>
          <a:xfrm>
            <a:off x="640080" y="2706624"/>
            <a:ext cx="1645920" cy="365760"/>
          </a:xfrm>
          <a:prstGeom prst="roundRect">
            <a:avLst>
              <a:gd name="adj" fmla="val 12500"/>
            </a:avLst>
          </a:prstGeom>
          <a:solidFill>
            <a:srgbClr val="0D1520"/>
          </a:solidFill>
          <a:ln/>
        </p:spPr>
      </p:sp>
      <p:sp>
        <p:nvSpPr>
          <p:cNvPr id="19" name="Text 17"/>
          <p:cNvSpPr/>
          <p:nvPr/>
        </p:nvSpPr>
        <p:spPr>
          <a:xfrm>
            <a:off x="640080" y="2706624"/>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Licensing &amp; Permits</a:t>
            </a:r>
            <a:endParaRPr lang="en-US" sz="1100" dirty="0"/>
          </a:p>
        </p:txBody>
      </p:sp>
      <p:sp>
        <p:nvSpPr>
          <p:cNvPr id="20" name="Text 18"/>
          <p:cNvSpPr/>
          <p:nvPr/>
        </p:nvSpPr>
        <p:spPr>
          <a:xfrm>
            <a:off x="2468880" y="2706624"/>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Full lifecycle recording with authority context</a:t>
            </a:r>
            <a:endParaRPr lang="en-US" sz="1100" dirty="0"/>
          </a:p>
        </p:txBody>
      </p:sp>
      <p:sp>
        <p:nvSpPr>
          <p:cNvPr id="21" name="Shape 19"/>
          <p:cNvSpPr/>
          <p:nvPr/>
        </p:nvSpPr>
        <p:spPr>
          <a:xfrm>
            <a:off x="640080" y="3182112"/>
            <a:ext cx="1645920" cy="365760"/>
          </a:xfrm>
          <a:prstGeom prst="roundRect">
            <a:avLst>
              <a:gd name="adj" fmla="val 12500"/>
            </a:avLst>
          </a:prstGeom>
          <a:solidFill>
            <a:srgbClr val="0D1520"/>
          </a:solidFill>
          <a:ln/>
        </p:spPr>
      </p:sp>
      <p:sp>
        <p:nvSpPr>
          <p:cNvPr id="22" name="Text 20"/>
          <p:cNvSpPr/>
          <p:nvPr/>
        </p:nvSpPr>
        <p:spPr>
          <a:xfrm>
            <a:off x="640080" y="3182112"/>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Healthcare Admin</a:t>
            </a:r>
            <a:endParaRPr lang="en-US" sz="1100" dirty="0"/>
          </a:p>
        </p:txBody>
      </p:sp>
      <p:sp>
        <p:nvSpPr>
          <p:cNvPr id="23" name="Text 21"/>
          <p:cNvSpPr/>
          <p:nvPr/>
        </p:nvSpPr>
        <p:spPr>
          <a:xfrm>
            <a:off x="2468880" y="3182112"/>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Regulatory approvals and facility inspection evidence</a:t>
            </a:r>
            <a:endParaRPr lang="en-US" sz="1100" dirty="0"/>
          </a:p>
        </p:txBody>
      </p:sp>
      <p:sp>
        <p:nvSpPr>
          <p:cNvPr id="24" name="Shape 22"/>
          <p:cNvSpPr/>
          <p:nvPr/>
        </p:nvSpPr>
        <p:spPr>
          <a:xfrm>
            <a:off x="640080" y="3657600"/>
            <a:ext cx="1645920" cy="365760"/>
          </a:xfrm>
          <a:prstGeom prst="roundRect">
            <a:avLst>
              <a:gd name="adj" fmla="val 12500"/>
            </a:avLst>
          </a:prstGeom>
          <a:solidFill>
            <a:srgbClr val="0D1520"/>
          </a:solidFill>
          <a:ln/>
        </p:spPr>
      </p:sp>
      <p:sp>
        <p:nvSpPr>
          <p:cNvPr id="25" name="Text 23"/>
          <p:cNvSpPr/>
          <p:nvPr/>
        </p:nvSpPr>
        <p:spPr>
          <a:xfrm>
            <a:off x="640080" y="3657600"/>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Infrastructure</a:t>
            </a:r>
            <a:endParaRPr lang="en-US" sz="1100" dirty="0"/>
          </a:p>
        </p:txBody>
      </p:sp>
      <p:sp>
        <p:nvSpPr>
          <p:cNvPr id="26" name="Text 24"/>
          <p:cNvSpPr/>
          <p:nvPr/>
        </p:nvSpPr>
        <p:spPr>
          <a:xfrm>
            <a:off x="2468880" y="3657600"/>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Safety inspections and project milestone verification</a:t>
            </a:r>
            <a:endParaRPr lang="en-US" sz="1100" dirty="0"/>
          </a:p>
        </p:txBody>
      </p:sp>
      <p:sp>
        <p:nvSpPr>
          <p:cNvPr id="27" name="Shape 25"/>
          <p:cNvSpPr/>
          <p:nvPr/>
        </p:nvSpPr>
        <p:spPr>
          <a:xfrm>
            <a:off x="640080" y="4133088"/>
            <a:ext cx="1645920" cy="365760"/>
          </a:xfrm>
          <a:prstGeom prst="roundRect">
            <a:avLst>
              <a:gd name="adj" fmla="val 12500"/>
            </a:avLst>
          </a:prstGeom>
          <a:solidFill>
            <a:srgbClr val="0D1520"/>
          </a:solidFill>
          <a:ln/>
        </p:spPr>
      </p:sp>
      <p:sp>
        <p:nvSpPr>
          <p:cNvPr id="28" name="Text 26"/>
          <p:cNvSpPr/>
          <p:nvPr/>
        </p:nvSpPr>
        <p:spPr>
          <a:xfrm>
            <a:off x="640080" y="4133088"/>
            <a:ext cx="1645920" cy="365760"/>
          </a:xfrm>
          <a:prstGeom prst="rect">
            <a:avLst/>
          </a:prstGeom>
          <a:noFill/>
          <a:ln/>
        </p:spPr>
        <p:txBody>
          <a:bodyPr wrap="square" lIns="0" tIns="0" rIns="0" bIns="0"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Financial Regulation</a:t>
            </a:r>
            <a:endParaRPr lang="en-US" sz="1100" dirty="0"/>
          </a:p>
        </p:txBody>
      </p:sp>
      <p:sp>
        <p:nvSpPr>
          <p:cNvPr id="29" name="Text 27"/>
          <p:cNvSpPr/>
          <p:nvPr/>
        </p:nvSpPr>
        <p:spPr>
          <a:xfrm>
            <a:off x="2468880" y="4133088"/>
            <a:ext cx="6217920" cy="36576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Supervisory findings and enforcement orders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Competitive Position</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A new category — not a better version of existing tools</a:t>
            </a:r>
            <a:endParaRPr lang="en-US" sz="1200" dirty="0"/>
          </a:p>
        </p:txBody>
      </p:sp>
      <p:sp>
        <p:nvSpPr>
          <p:cNvPr id="9" name="Text 7"/>
          <p:cNvSpPr/>
          <p:nvPr/>
        </p:nvSpPr>
        <p:spPr>
          <a:xfrm>
            <a:off x="640080" y="1325880"/>
            <a:ext cx="2286000" cy="384048"/>
          </a:xfrm>
          <a:prstGeom prst="rect">
            <a:avLst/>
          </a:prstGeom>
          <a:solidFill>
            <a:srgbClr val="1A2744"/>
          </a:solidFill>
          <a:ln/>
        </p:spPr>
        <p:txBody>
          <a:bodyPr wrap="square" lIns="0" tIns="101600" rIns="101600" bIns="0" rtlCol="0" anchor="ctr"/>
          <a:lstStyle/>
          <a:p>
            <a:pPr algn="l" indent="0" marL="0">
              <a:buNone/>
            </a:pPr>
            <a:r>
              <a:rPr lang="en-US" sz="1000" b="1" dirty="0">
                <a:solidFill>
                  <a:srgbClr val="C9A84C"/>
                </a:solidFill>
                <a:latin typeface="Arial" pitchFamily="34" charset="0"/>
                <a:ea typeface="Arial" pitchFamily="34" charset="-122"/>
                <a:cs typeface="Arial" pitchFamily="34" charset="-120"/>
              </a:rPr>
              <a:t>Capability</a:t>
            </a:r>
            <a:endParaRPr lang="en-US" sz="1000" dirty="0"/>
          </a:p>
        </p:txBody>
      </p:sp>
      <p:sp>
        <p:nvSpPr>
          <p:cNvPr id="10" name="Text 8"/>
          <p:cNvSpPr/>
          <p:nvPr/>
        </p:nvSpPr>
        <p:spPr>
          <a:xfrm>
            <a:off x="2926080" y="1325880"/>
            <a:ext cx="1828800" cy="384048"/>
          </a:xfrm>
          <a:prstGeom prst="rect">
            <a:avLst/>
          </a:prstGeom>
          <a:solidFill>
            <a:srgbClr val="1A2744"/>
          </a:solidFill>
          <a:ln/>
        </p:spPr>
        <p:txBody>
          <a:bodyPr wrap="square" lIns="0" tIns="101600" rIns="101600" bIns="0" rtlCol="0" anchor="ctr"/>
          <a:lstStyle/>
          <a:p>
            <a:pPr algn="ctr" indent="0" marL="0">
              <a:buNone/>
            </a:pPr>
            <a:r>
              <a:rPr lang="en-US" sz="1000" b="1" dirty="0">
                <a:solidFill>
                  <a:srgbClr val="C9A84C"/>
                </a:solidFill>
                <a:latin typeface="Arial" pitchFamily="34" charset="0"/>
                <a:ea typeface="Arial" pitchFamily="34" charset="-122"/>
                <a:cs typeface="Arial" pitchFamily="34" charset="-120"/>
              </a:rPr>
              <a:t>ERP Systems</a:t>
            </a:r>
            <a:endParaRPr lang="en-US" sz="1000" dirty="0"/>
          </a:p>
        </p:txBody>
      </p:sp>
      <p:sp>
        <p:nvSpPr>
          <p:cNvPr id="11" name="Text 9"/>
          <p:cNvSpPr/>
          <p:nvPr/>
        </p:nvSpPr>
        <p:spPr>
          <a:xfrm>
            <a:off x="4754880" y="1325880"/>
            <a:ext cx="1828800" cy="384048"/>
          </a:xfrm>
          <a:prstGeom prst="rect">
            <a:avLst/>
          </a:prstGeom>
          <a:solidFill>
            <a:srgbClr val="1A2744"/>
          </a:solidFill>
          <a:ln/>
        </p:spPr>
        <p:txBody>
          <a:bodyPr wrap="square" lIns="0" tIns="101600" rIns="101600" bIns="0" rtlCol="0" anchor="ctr"/>
          <a:lstStyle/>
          <a:p>
            <a:pPr algn="ctr" indent="0" marL="0">
              <a:buNone/>
            </a:pPr>
            <a:r>
              <a:rPr lang="en-US" sz="1000" b="1" dirty="0">
                <a:solidFill>
                  <a:srgbClr val="C9A84C"/>
                </a:solidFill>
                <a:latin typeface="Arial" pitchFamily="34" charset="0"/>
                <a:ea typeface="Arial" pitchFamily="34" charset="-122"/>
                <a:cs typeface="Arial" pitchFamily="34" charset="-120"/>
              </a:rPr>
              <a:t>Blockchain</a:t>
            </a:r>
            <a:endParaRPr lang="en-US" sz="1000" dirty="0"/>
          </a:p>
        </p:txBody>
      </p:sp>
      <p:sp>
        <p:nvSpPr>
          <p:cNvPr id="12" name="Text 10"/>
          <p:cNvSpPr/>
          <p:nvPr/>
        </p:nvSpPr>
        <p:spPr>
          <a:xfrm>
            <a:off x="6583680" y="1325880"/>
            <a:ext cx="1920240" cy="384048"/>
          </a:xfrm>
          <a:prstGeom prst="rect">
            <a:avLst/>
          </a:prstGeom>
          <a:solidFill>
            <a:srgbClr val="1A2744"/>
          </a:solidFill>
          <a:ln/>
        </p:spPr>
        <p:txBody>
          <a:bodyPr wrap="square" lIns="0" tIns="101600" rIns="101600" bIns="0" rtlCol="0" anchor="ctr"/>
          <a:lstStyle/>
          <a:p>
            <a:pPr algn="ctr" indent="0" marL="0">
              <a:buNone/>
            </a:pPr>
            <a:r>
              <a:rPr lang="en-US" sz="1000" b="1" dirty="0">
                <a:solidFill>
                  <a:srgbClr val="C9A84C"/>
                </a:solidFill>
                <a:latin typeface="Arial" pitchFamily="34" charset="0"/>
                <a:ea typeface="Arial" pitchFamily="34" charset="-122"/>
                <a:cs typeface="Arial" pitchFamily="34" charset="-120"/>
              </a:rPr>
              <a:t>GRGF</a:t>
            </a:r>
            <a:endParaRPr lang="en-US" sz="1000" dirty="0"/>
          </a:p>
        </p:txBody>
      </p:sp>
      <p:sp>
        <p:nvSpPr>
          <p:cNvPr id="13" name="Text 11"/>
          <p:cNvSpPr/>
          <p:nvPr/>
        </p:nvSpPr>
        <p:spPr>
          <a:xfrm>
            <a:off x="640080" y="1737360"/>
            <a:ext cx="2286000" cy="384048"/>
          </a:xfrm>
          <a:prstGeom prst="rect">
            <a:avLst/>
          </a:prstGeom>
          <a:solidFill>
            <a:srgbClr val="0F1B2D"/>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Tamper detection</a:t>
            </a:r>
            <a:endParaRPr lang="en-US" sz="1000" dirty="0"/>
          </a:p>
        </p:txBody>
      </p:sp>
      <p:sp>
        <p:nvSpPr>
          <p:cNvPr id="14" name="Text 12"/>
          <p:cNvSpPr/>
          <p:nvPr/>
        </p:nvSpPr>
        <p:spPr>
          <a:xfrm>
            <a:off x="2926080" y="173736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15" name="Text 13"/>
          <p:cNvSpPr/>
          <p:nvPr/>
        </p:nvSpPr>
        <p:spPr>
          <a:xfrm>
            <a:off x="4754880" y="173736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Yes</a:t>
            </a:r>
            <a:endParaRPr lang="en-US" sz="1000" dirty="0"/>
          </a:p>
        </p:txBody>
      </p:sp>
      <p:sp>
        <p:nvSpPr>
          <p:cNvPr id="16" name="Text 14"/>
          <p:cNvSpPr/>
          <p:nvPr/>
        </p:nvSpPr>
        <p:spPr>
          <a:xfrm>
            <a:off x="6583680" y="1737360"/>
            <a:ext cx="1920240" cy="384048"/>
          </a:xfrm>
          <a:prstGeom prst="rect">
            <a:avLst/>
          </a:prstGeom>
          <a:solidFill>
            <a:srgbClr val="0F1B2D"/>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17" name="Text 15"/>
          <p:cNvSpPr/>
          <p:nvPr/>
        </p:nvSpPr>
        <p:spPr>
          <a:xfrm>
            <a:off x="640080" y="2148840"/>
            <a:ext cx="2286000" cy="384048"/>
          </a:xfrm>
          <a:prstGeom prst="rect">
            <a:avLst/>
          </a:prstGeom>
          <a:solidFill>
            <a:srgbClr val="15243A"/>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Sovereign deployment</a:t>
            </a:r>
            <a:endParaRPr lang="en-US" sz="1000" dirty="0"/>
          </a:p>
        </p:txBody>
      </p:sp>
      <p:sp>
        <p:nvSpPr>
          <p:cNvPr id="18" name="Text 16"/>
          <p:cNvSpPr/>
          <p:nvPr/>
        </p:nvSpPr>
        <p:spPr>
          <a:xfrm>
            <a:off x="2926080" y="214884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Partial</a:t>
            </a:r>
            <a:endParaRPr lang="en-US" sz="1000" dirty="0"/>
          </a:p>
        </p:txBody>
      </p:sp>
      <p:sp>
        <p:nvSpPr>
          <p:cNvPr id="19" name="Text 17"/>
          <p:cNvSpPr/>
          <p:nvPr/>
        </p:nvSpPr>
        <p:spPr>
          <a:xfrm>
            <a:off x="4754880" y="214884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20" name="Text 18"/>
          <p:cNvSpPr/>
          <p:nvPr/>
        </p:nvSpPr>
        <p:spPr>
          <a:xfrm>
            <a:off x="6583680" y="2148840"/>
            <a:ext cx="1920240" cy="384048"/>
          </a:xfrm>
          <a:prstGeom prst="rect">
            <a:avLst/>
          </a:prstGeom>
          <a:solidFill>
            <a:srgbClr val="15243A"/>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21" name="Text 19"/>
          <p:cNvSpPr/>
          <p:nvPr/>
        </p:nvSpPr>
        <p:spPr>
          <a:xfrm>
            <a:off x="640080" y="2560320"/>
            <a:ext cx="2286000" cy="384048"/>
          </a:xfrm>
          <a:prstGeom prst="rect">
            <a:avLst/>
          </a:prstGeom>
          <a:solidFill>
            <a:srgbClr val="0F1B2D"/>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No token dependency</a:t>
            </a:r>
            <a:endParaRPr lang="en-US" sz="1000" dirty="0"/>
          </a:p>
        </p:txBody>
      </p:sp>
      <p:sp>
        <p:nvSpPr>
          <p:cNvPr id="22" name="Text 20"/>
          <p:cNvSpPr/>
          <p:nvPr/>
        </p:nvSpPr>
        <p:spPr>
          <a:xfrm>
            <a:off x="2926080" y="256032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Yes</a:t>
            </a:r>
            <a:endParaRPr lang="en-US" sz="1000" dirty="0"/>
          </a:p>
        </p:txBody>
      </p:sp>
      <p:sp>
        <p:nvSpPr>
          <p:cNvPr id="23" name="Text 21"/>
          <p:cNvSpPr/>
          <p:nvPr/>
        </p:nvSpPr>
        <p:spPr>
          <a:xfrm>
            <a:off x="4754880" y="256032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24" name="Text 22"/>
          <p:cNvSpPr/>
          <p:nvPr/>
        </p:nvSpPr>
        <p:spPr>
          <a:xfrm>
            <a:off x="6583680" y="2560320"/>
            <a:ext cx="1920240" cy="384048"/>
          </a:xfrm>
          <a:prstGeom prst="rect">
            <a:avLst/>
          </a:prstGeom>
          <a:solidFill>
            <a:srgbClr val="0F1B2D"/>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25" name="Text 23"/>
          <p:cNvSpPr/>
          <p:nvPr/>
        </p:nvSpPr>
        <p:spPr>
          <a:xfrm>
            <a:off x="640080" y="2971800"/>
            <a:ext cx="2286000" cy="384048"/>
          </a:xfrm>
          <a:prstGeom prst="rect">
            <a:avLst/>
          </a:prstGeom>
          <a:solidFill>
            <a:srgbClr val="15243A"/>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Omission recording</a:t>
            </a:r>
            <a:endParaRPr lang="en-US" sz="1000" dirty="0"/>
          </a:p>
        </p:txBody>
      </p:sp>
      <p:sp>
        <p:nvSpPr>
          <p:cNvPr id="26" name="Text 24"/>
          <p:cNvSpPr/>
          <p:nvPr/>
        </p:nvSpPr>
        <p:spPr>
          <a:xfrm>
            <a:off x="2926080" y="297180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27" name="Text 25"/>
          <p:cNvSpPr/>
          <p:nvPr/>
        </p:nvSpPr>
        <p:spPr>
          <a:xfrm>
            <a:off x="4754880" y="297180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28" name="Text 26"/>
          <p:cNvSpPr/>
          <p:nvPr/>
        </p:nvSpPr>
        <p:spPr>
          <a:xfrm>
            <a:off x="6583680" y="2971800"/>
            <a:ext cx="1920240" cy="384048"/>
          </a:xfrm>
          <a:prstGeom prst="rect">
            <a:avLst/>
          </a:prstGeom>
          <a:solidFill>
            <a:srgbClr val="15243A"/>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29" name="Text 27"/>
          <p:cNvSpPr/>
          <p:nvPr/>
        </p:nvSpPr>
        <p:spPr>
          <a:xfrm>
            <a:off x="640080" y="3383280"/>
            <a:ext cx="2286000" cy="384048"/>
          </a:xfrm>
          <a:prstGeom prst="rect">
            <a:avLst/>
          </a:prstGeom>
          <a:solidFill>
            <a:srgbClr val="0F1B2D"/>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Public verification</a:t>
            </a:r>
            <a:endParaRPr lang="en-US" sz="1000" dirty="0"/>
          </a:p>
        </p:txBody>
      </p:sp>
      <p:sp>
        <p:nvSpPr>
          <p:cNvPr id="30" name="Text 28"/>
          <p:cNvSpPr/>
          <p:nvPr/>
        </p:nvSpPr>
        <p:spPr>
          <a:xfrm>
            <a:off x="2926080" y="338328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31" name="Text 29"/>
          <p:cNvSpPr/>
          <p:nvPr/>
        </p:nvSpPr>
        <p:spPr>
          <a:xfrm>
            <a:off x="4754880" y="338328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Partial</a:t>
            </a:r>
            <a:endParaRPr lang="en-US" sz="1000" dirty="0"/>
          </a:p>
        </p:txBody>
      </p:sp>
      <p:sp>
        <p:nvSpPr>
          <p:cNvPr id="32" name="Text 30"/>
          <p:cNvSpPr/>
          <p:nvPr/>
        </p:nvSpPr>
        <p:spPr>
          <a:xfrm>
            <a:off x="6583680" y="3383280"/>
            <a:ext cx="1920240" cy="384048"/>
          </a:xfrm>
          <a:prstGeom prst="rect">
            <a:avLst/>
          </a:prstGeom>
          <a:solidFill>
            <a:srgbClr val="0F1B2D"/>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33" name="Text 31"/>
          <p:cNvSpPr/>
          <p:nvPr/>
        </p:nvSpPr>
        <p:spPr>
          <a:xfrm>
            <a:off x="640080" y="3794760"/>
            <a:ext cx="2286000" cy="384048"/>
          </a:xfrm>
          <a:prstGeom prst="rect">
            <a:avLst/>
          </a:prstGeom>
          <a:solidFill>
            <a:srgbClr val="15243A"/>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Authority binding</a:t>
            </a:r>
            <a:endParaRPr lang="en-US" sz="1000" dirty="0"/>
          </a:p>
        </p:txBody>
      </p:sp>
      <p:sp>
        <p:nvSpPr>
          <p:cNvPr id="34" name="Text 32"/>
          <p:cNvSpPr/>
          <p:nvPr/>
        </p:nvSpPr>
        <p:spPr>
          <a:xfrm>
            <a:off x="2926080" y="379476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35" name="Text 33"/>
          <p:cNvSpPr/>
          <p:nvPr/>
        </p:nvSpPr>
        <p:spPr>
          <a:xfrm>
            <a:off x="4754880" y="3794760"/>
            <a:ext cx="1828800" cy="384048"/>
          </a:xfrm>
          <a:prstGeom prst="rect">
            <a:avLst/>
          </a:prstGeom>
          <a:solidFill>
            <a:srgbClr val="15243A"/>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No</a:t>
            </a:r>
            <a:endParaRPr lang="en-US" sz="1000" dirty="0"/>
          </a:p>
        </p:txBody>
      </p:sp>
      <p:sp>
        <p:nvSpPr>
          <p:cNvPr id="36" name="Text 34"/>
          <p:cNvSpPr/>
          <p:nvPr/>
        </p:nvSpPr>
        <p:spPr>
          <a:xfrm>
            <a:off x="6583680" y="3794760"/>
            <a:ext cx="1920240" cy="384048"/>
          </a:xfrm>
          <a:prstGeom prst="rect">
            <a:avLst/>
          </a:prstGeom>
          <a:solidFill>
            <a:srgbClr val="15243A"/>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Yes</a:t>
            </a:r>
            <a:endParaRPr lang="en-US" sz="1000" dirty="0"/>
          </a:p>
        </p:txBody>
      </p:sp>
      <p:sp>
        <p:nvSpPr>
          <p:cNvPr id="37" name="Text 35"/>
          <p:cNvSpPr/>
          <p:nvPr/>
        </p:nvSpPr>
        <p:spPr>
          <a:xfrm>
            <a:off x="640080" y="4206240"/>
            <a:ext cx="2286000" cy="384048"/>
          </a:xfrm>
          <a:prstGeom prst="rect">
            <a:avLst/>
          </a:prstGeom>
          <a:solidFill>
            <a:srgbClr val="0F1B2D"/>
          </a:solidFill>
          <a:ln/>
        </p:spPr>
        <p:txBody>
          <a:bodyPr wrap="square" lIns="0" tIns="101600" rIns="10160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Institutional audit</a:t>
            </a:r>
            <a:endParaRPr lang="en-US" sz="1000" dirty="0"/>
          </a:p>
        </p:txBody>
      </p:sp>
      <p:sp>
        <p:nvSpPr>
          <p:cNvPr id="38" name="Text 36"/>
          <p:cNvSpPr/>
          <p:nvPr/>
        </p:nvSpPr>
        <p:spPr>
          <a:xfrm>
            <a:off x="2926080" y="420624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Partial</a:t>
            </a:r>
            <a:endParaRPr lang="en-US" sz="1000" dirty="0"/>
          </a:p>
        </p:txBody>
      </p:sp>
      <p:sp>
        <p:nvSpPr>
          <p:cNvPr id="39" name="Text 37"/>
          <p:cNvSpPr/>
          <p:nvPr/>
        </p:nvSpPr>
        <p:spPr>
          <a:xfrm>
            <a:off x="4754880" y="4206240"/>
            <a:ext cx="1828800" cy="384048"/>
          </a:xfrm>
          <a:prstGeom prst="rect">
            <a:avLst/>
          </a:prstGeom>
          <a:solidFill>
            <a:srgbClr val="0F1B2D"/>
          </a:solidFill>
          <a:ln/>
        </p:spPr>
        <p:txBody>
          <a:bodyPr wrap="square" lIns="0" tIns="101600" rIns="101600" bIns="0" rtlCol="0" anchor="ctr"/>
          <a:lstStyle/>
          <a:p>
            <a:pPr algn="ctr" indent="0" marL="0">
              <a:buNone/>
            </a:pPr>
            <a:r>
              <a:rPr lang="en-US" sz="1000" dirty="0">
                <a:solidFill>
                  <a:srgbClr val="E2E8F0"/>
                </a:solidFill>
                <a:latin typeface="Arial" pitchFamily="34" charset="0"/>
                <a:ea typeface="Arial" pitchFamily="34" charset="-122"/>
                <a:cs typeface="Arial" pitchFamily="34" charset="-120"/>
              </a:rPr>
              <a:t>Partial</a:t>
            </a:r>
            <a:endParaRPr lang="en-US" sz="1000" dirty="0"/>
          </a:p>
        </p:txBody>
      </p:sp>
      <p:sp>
        <p:nvSpPr>
          <p:cNvPr id="40" name="Text 38"/>
          <p:cNvSpPr/>
          <p:nvPr/>
        </p:nvSpPr>
        <p:spPr>
          <a:xfrm>
            <a:off x="6583680" y="4206240"/>
            <a:ext cx="1920240" cy="384048"/>
          </a:xfrm>
          <a:prstGeom prst="rect">
            <a:avLst/>
          </a:prstGeom>
          <a:solidFill>
            <a:srgbClr val="0F1B2D"/>
          </a:solidFill>
          <a:ln/>
        </p:spPr>
        <p:txBody>
          <a:bodyPr wrap="square" lIns="0" tIns="101600" rIns="10160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Complete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9A84C"/>
          </a:solidFill>
          <a:ln/>
        </p:spPr>
      </p:sp>
      <p:sp>
        <p:nvSpPr>
          <p:cNvPr id="3" name="Shape 1"/>
          <p:cNvSpPr/>
          <p:nvPr/>
        </p:nvSpPr>
        <p:spPr>
          <a:xfrm>
            <a:off x="0" y="4892040"/>
            <a:ext cx="9144000" cy="256032"/>
          </a:xfrm>
          <a:prstGeom prst="rect">
            <a:avLst/>
          </a:prstGeom>
          <a:solidFill>
            <a:srgbClr val="0D1520"/>
          </a:solidFill>
          <a:ln/>
        </p:spPr>
      </p:sp>
      <p:sp>
        <p:nvSpPr>
          <p:cNvPr id="4" name="Text 2"/>
          <p:cNvSpPr/>
          <p:nvPr/>
        </p:nvSpPr>
        <p:spPr>
          <a:xfrm>
            <a:off x="457200" y="4919472"/>
            <a:ext cx="6400800" cy="182880"/>
          </a:xfrm>
          <a:prstGeom prst="rect">
            <a:avLst/>
          </a:prstGeom>
          <a:noFill/>
          <a:ln/>
        </p:spPr>
        <p:txBody>
          <a:bodyPr wrap="square" rtlCol="0" anchor="ctr"/>
          <a:lstStyle/>
          <a:p>
            <a:pPr indent="0" marL="0">
              <a:buNone/>
            </a:pPr>
            <a:r>
              <a:rPr lang="en-US" sz="700" dirty="0">
                <a:solidFill>
                  <a:srgbClr val="94A3B8"/>
                </a:solidFill>
                <a:latin typeface="Arial" pitchFamily="34" charset="0"/>
                <a:ea typeface="Arial" pitchFamily="34" charset="-122"/>
                <a:cs typeface="Arial" pitchFamily="34" charset="-120"/>
              </a:rPr>
              <a:t>GRGF — Global Record Governance Framework</a:t>
            </a:r>
            <a:endParaRPr lang="en-US" sz="700" dirty="0"/>
          </a:p>
        </p:txBody>
      </p:sp>
      <p:sp>
        <p:nvSpPr>
          <p:cNvPr id="5" name="Text 3"/>
          <p:cNvSpPr/>
          <p:nvPr/>
        </p:nvSpPr>
        <p:spPr>
          <a:xfrm>
            <a:off x="7315200" y="4919472"/>
            <a:ext cx="1371600" cy="182880"/>
          </a:xfrm>
          <a:prstGeom prst="rect">
            <a:avLst/>
          </a:prstGeom>
          <a:noFill/>
          <a:ln/>
        </p:spPr>
        <p:txBody>
          <a:bodyPr wrap="square" rtlCol="0" anchor="ctr"/>
          <a:lstStyle/>
          <a:p>
            <a:pPr algn="r" indent="0" marL="0">
              <a:buNone/>
            </a:pPr>
            <a:r>
              <a:rPr lang="en-US" sz="700" dirty="0">
                <a:solidFill>
                  <a:srgbClr val="94A3B8"/>
                </a:solidFill>
                <a:latin typeface="Arial" pitchFamily="34" charset="0"/>
                <a:ea typeface="Arial" pitchFamily="34" charset="-122"/>
                <a:cs typeface="Arial" pitchFamily="34" charset="-120"/>
              </a:rPr>
              <a:t>CONFIDENTIAL</a:t>
            </a:r>
            <a:endParaRPr lang="en-US" sz="700" dirty="0"/>
          </a:p>
        </p:txBody>
      </p:sp>
      <p:sp>
        <p:nvSpPr>
          <p:cNvPr id="6" name="Text 4"/>
          <p:cNvSpPr/>
          <p:nvPr/>
        </p:nvSpPr>
        <p:spPr>
          <a:xfrm>
            <a:off x="640080" y="320040"/>
            <a:ext cx="78638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Business Model</a:t>
            </a:r>
            <a:endParaRPr lang="en-US" sz="2800" dirty="0"/>
          </a:p>
        </p:txBody>
      </p:sp>
      <p:sp>
        <p:nvSpPr>
          <p:cNvPr id="7" name="Shape 5"/>
          <p:cNvSpPr/>
          <p:nvPr/>
        </p:nvSpPr>
        <p:spPr>
          <a:xfrm>
            <a:off x="640080" y="868680"/>
            <a:ext cx="1097280" cy="36576"/>
          </a:xfrm>
          <a:prstGeom prst="rect">
            <a:avLst/>
          </a:prstGeom>
          <a:solidFill>
            <a:srgbClr val="C9A84C"/>
          </a:solidFill>
          <a:ln/>
        </p:spPr>
      </p:sp>
      <p:sp>
        <p:nvSpPr>
          <p:cNvPr id="8" name="Text 6"/>
          <p:cNvSpPr/>
          <p:nvPr/>
        </p:nvSpPr>
        <p:spPr>
          <a:xfrm>
            <a:off x="640080" y="1005840"/>
            <a:ext cx="7863840" cy="32004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Institutional deployment and infrastructure licensing</a:t>
            </a:r>
            <a:endParaRPr lang="en-US" sz="1200" dirty="0"/>
          </a:p>
        </p:txBody>
      </p:sp>
      <p:sp>
        <p:nvSpPr>
          <p:cNvPr id="9" name="Text 7"/>
          <p:cNvSpPr/>
          <p:nvPr/>
        </p:nvSpPr>
        <p:spPr>
          <a:xfrm>
            <a:off x="640080" y="1371600"/>
            <a:ext cx="7863840" cy="2926080"/>
          </a:xfrm>
          <a:prstGeom prst="rect">
            <a:avLst/>
          </a:prstGeom>
          <a:noFill/>
          <a:ln/>
        </p:spPr>
        <p:txBody>
          <a:bodyPr wrap="square" rtlCol="0" anchor="t"/>
          <a:lstStyle/>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Institutional deployment contracts: government and multilateral organizations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Module licensing: sector-specific record templates, verification APIs, compliance packs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Verification-as-a-Service: public verification infrastructure for citizens and oversight bodies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Academy and certification: institutional training programs for governance professionals</a:t>
            </a:r>
            <a:endParaRPr lang="en-US" sz="1400" dirty="0"/>
          </a:p>
          <a:p>
            <a:pPr marL="342900" indent="-342900">
              <a:lnSpc>
                <a:spcPct val="140000"/>
              </a:lnSpc>
              <a:buSzPct val="100000"/>
              <a:buChar char="•"/>
            </a:pPr>
            <a:r>
              <a:rPr lang="en-US" sz="1400" dirty="0">
                <a:solidFill>
                  <a:srgbClr val="E2E8F0"/>
                </a:solidFill>
                <a:latin typeface="Arial" pitchFamily="34" charset="0"/>
                <a:ea typeface="Arial" pitchFamily="34" charset="-122"/>
                <a:cs typeface="Arial" pitchFamily="34" charset="-120"/>
              </a:rPr>
              <a:t>Federation licensing: cross-jurisdictional trust network participation</a:t>
            </a:r>
            <a:endParaRPr lang="en-US" sz="1400" dirty="0"/>
          </a:p>
        </p:txBody>
      </p:sp>
      <p:sp>
        <p:nvSpPr>
          <p:cNvPr id="10" name="Shape 8"/>
          <p:cNvSpPr/>
          <p:nvPr/>
        </p:nvSpPr>
        <p:spPr>
          <a:xfrm>
            <a:off x="640080" y="3840480"/>
            <a:ext cx="7863840" cy="457200"/>
          </a:xfrm>
          <a:prstGeom prst="rect">
            <a:avLst>
              <a:gd name="adj" fmla="val 10000"/>
            </a:avLst>
          </a:prstGeom>
          <a:solidFill>
            <a:srgbClr val="0D1520"/>
          </a:solidFill>
          <a:ln/>
        </p:spPr>
      </p:sp>
      <p:sp>
        <p:nvSpPr>
          <p:cNvPr id="11" name="Text 9"/>
          <p:cNvSpPr/>
          <p:nvPr/>
        </p:nvSpPr>
        <p:spPr>
          <a:xfrm>
            <a:off x="640080" y="3840480"/>
            <a:ext cx="7863840" cy="457200"/>
          </a:xfrm>
          <a:prstGeom prst="rect">
            <a:avLst/>
          </a:prstGeom>
          <a:noFill/>
          <a:ln/>
        </p:spPr>
        <p:txBody>
          <a:bodyPr wrap="square" rtlCol="0" anchor="ctr"/>
          <a:lstStyle/>
          <a:p>
            <a:pPr algn="ctr" indent="0" marL="0">
              <a:buNone/>
            </a:pPr>
            <a:r>
              <a:rPr lang="en-US" sz="1100" dirty="0">
                <a:solidFill>
                  <a:srgbClr val="C9A84C"/>
                </a:solidFill>
                <a:latin typeface="Arial" pitchFamily="34" charset="0"/>
                <a:ea typeface="Arial" pitchFamily="34" charset="-122"/>
                <a:cs typeface="Arial" pitchFamily="34" charset="-120"/>
              </a:rPr>
              <a:t>Target: $2.4T global governance technology market  •  140+ countries investing in DPI</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9A84C"/>
          </a:solidFill>
          <a:ln/>
        </p:spPr>
      </p:sp>
      <p:sp>
        <p:nvSpPr>
          <p:cNvPr id="3" name="Text 1"/>
          <p:cNvSpPr/>
          <p:nvPr/>
        </p:nvSpPr>
        <p:spPr>
          <a:xfrm>
            <a:off x="640080" y="914400"/>
            <a:ext cx="7863840" cy="82296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GRGF</a:t>
            </a:r>
            <a:endParaRPr lang="en-US" sz="4800" dirty="0"/>
          </a:p>
        </p:txBody>
      </p:sp>
      <p:sp>
        <p:nvSpPr>
          <p:cNvPr id="4" name="Shape 2"/>
          <p:cNvSpPr/>
          <p:nvPr/>
        </p:nvSpPr>
        <p:spPr>
          <a:xfrm>
            <a:off x="640080" y="1828800"/>
            <a:ext cx="1371600" cy="36576"/>
          </a:xfrm>
          <a:prstGeom prst="rect">
            <a:avLst/>
          </a:prstGeom>
          <a:solidFill>
            <a:srgbClr val="C9A84C"/>
          </a:solidFill>
          <a:ln/>
        </p:spPr>
      </p:sp>
      <p:sp>
        <p:nvSpPr>
          <p:cNvPr id="5" name="Text 3"/>
          <p:cNvSpPr/>
          <p:nvPr/>
        </p:nvSpPr>
        <p:spPr>
          <a:xfrm>
            <a:off x="640080" y="2011680"/>
            <a:ext cx="7863840" cy="548640"/>
          </a:xfrm>
          <a:prstGeom prst="rect">
            <a:avLst/>
          </a:prstGeom>
          <a:noFill/>
          <a:ln/>
        </p:spPr>
        <p:txBody>
          <a:bodyPr wrap="square" lIns="0" tIns="0" rIns="0" bIns="0" rtlCol="0" anchor="ctr"/>
          <a:lstStyle/>
          <a:p>
            <a:pPr indent="0" marL="0">
              <a:buNone/>
            </a:pPr>
            <a:r>
              <a:rPr lang="en-US" sz="1600" i="1" dirty="0">
                <a:solidFill>
                  <a:srgbClr val="E2E8F0"/>
                </a:solidFill>
                <a:latin typeface="Arial" pitchFamily="34" charset="0"/>
                <a:ea typeface="Arial" pitchFamily="34" charset="-122"/>
                <a:cs typeface="Arial" pitchFamily="34" charset="-120"/>
              </a:rPr>
              <a:t>The infrastructure layer that records institutional reality — immutably.</a:t>
            </a:r>
            <a:endParaRPr lang="en-US" sz="1600" dirty="0"/>
          </a:p>
        </p:txBody>
      </p:sp>
      <p:sp>
        <p:nvSpPr>
          <p:cNvPr id="6" name="Text 4"/>
          <p:cNvSpPr/>
          <p:nvPr/>
        </p:nvSpPr>
        <p:spPr>
          <a:xfrm>
            <a:off x="640080" y="2743200"/>
            <a:ext cx="7863840" cy="2011680"/>
          </a:xfrm>
          <a:prstGeom prst="rect">
            <a:avLst/>
          </a:prstGeom>
          <a:noFill/>
          <a:ln/>
        </p:spPr>
        <p:txBody>
          <a:bodyPr wrap="square" rtlCol="0" anchor="t"/>
          <a:lstStyle/>
          <a:p>
            <a:pPr indent="0" marL="0">
              <a:lnSpc>
                <a:spcPct val="120000"/>
              </a:lnSpc>
              <a:buNone/>
            </a:pPr>
            <a:r>
              <a:rPr lang="en-US" sz="1300" b="1" dirty="0">
                <a:solidFill>
                  <a:srgbClr val="C9A84C"/>
                </a:solidFill>
                <a:latin typeface="Arial" pitchFamily="34" charset="0"/>
                <a:ea typeface="Arial" pitchFamily="34" charset="-122"/>
                <a:cs typeface="Arial" pitchFamily="34" charset="-120"/>
              </a:rPr>
              <a:t>Patented</a:t>
            </a:r>
            <a:endParaRPr lang="en-US" sz="1300" dirty="0"/>
          </a:p>
          <a:p>
            <a:pPr indent="0" marL="0">
              <a:lnSpc>
                <a:spcPct val="120000"/>
              </a:lnSpc>
              <a:buNone/>
            </a:pPr>
            <a:r>
              <a:rPr lang="en-US" sz="1100" dirty="0">
                <a:solidFill>
                  <a:srgbClr val="E2E8F0"/>
                </a:solidFill>
                <a:latin typeface="Arial" pitchFamily="34" charset="0"/>
                <a:ea typeface="Arial" pitchFamily="34" charset="-122"/>
                <a:cs typeface="Arial" pitchFamily="34" charset="-120"/>
              </a:rPr>
              <a:t>Canadian Patent No. CA 3,300,102</a:t>
            </a:r>
            <a:endParaRPr lang="en-US" sz="1300" dirty="0"/>
          </a:p>
          <a:p>
            <a:pPr indent="0" marL="0">
              <a:lnSpc>
                <a:spcPct val="120000"/>
              </a:lnSpc>
              <a:buNone/>
            </a:pPr>
            <a:endParaRPr lang="en-US" sz="1300" dirty="0"/>
          </a:p>
          <a:p>
            <a:pPr indent="0" marL="0">
              <a:lnSpc>
                <a:spcPct val="120000"/>
              </a:lnSpc>
              <a:buNone/>
            </a:pPr>
            <a:r>
              <a:rPr lang="en-US" sz="1300" b="1" dirty="0">
                <a:solidFill>
                  <a:srgbClr val="C9A84C"/>
                </a:solidFill>
                <a:latin typeface="Arial" pitchFamily="34" charset="0"/>
                <a:ea typeface="Arial" pitchFamily="34" charset="-122"/>
                <a:cs typeface="Arial" pitchFamily="34" charset="-120"/>
              </a:rPr>
              <a:t>Validated</a:t>
            </a:r>
            <a:endParaRPr lang="en-US" sz="1300" dirty="0"/>
          </a:p>
          <a:p>
            <a:pPr indent="0" marL="0">
              <a:lnSpc>
                <a:spcPct val="120000"/>
              </a:lnSpc>
              <a:buNone/>
            </a:pPr>
            <a:r>
              <a:rPr lang="en-US" sz="1100" dirty="0">
                <a:solidFill>
                  <a:srgbClr val="E2E8F0"/>
                </a:solidFill>
                <a:latin typeface="Arial" pitchFamily="34" charset="0"/>
                <a:ea typeface="Arial" pitchFamily="34" charset="-122"/>
                <a:cs typeface="Arial" pitchFamily="34" charset="-120"/>
              </a:rPr>
              <a:t>TRL 6 — 13/13 end-to-end tests passed</a:t>
            </a:r>
            <a:endParaRPr lang="en-US" sz="1300" dirty="0"/>
          </a:p>
          <a:p>
            <a:pPr indent="0" marL="0">
              <a:lnSpc>
                <a:spcPct val="120000"/>
              </a:lnSpc>
              <a:buNone/>
            </a:pPr>
            <a:endParaRPr lang="en-US" sz="1300" dirty="0"/>
          </a:p>
          <a:p>
            <a:pPr indent="0" marL="0">
              <a:lnSpc>
                <a:spcPct val="120000"/>
              </a:lnSpc>
              <a:buNone/>
            </a:pPr>
            <a:r>
              <a:rPr lang="en-US" sz="1300" b="1" dirty="0">
                <a:solidFill>
                  <a:srgbClr val="C9A84C"/>
                </a:solidFill>
                <a:latin typeface="Arial" pitchFamily="34" charset="0"/>
                <a:ea typeface="Arial" pitchFamily="34" charset="-122"/>
                <a:cs typeface="Arial" pitchFamily="34" charset="-120"/>
              </a:rPr>
              <a:t>Ready</a:t>
            </a:r>
            <a:endParaRPr lang="en-US" sz="1300" dirty="0"/>
          </a:p>
          <a:p>
            <a:pPr indent="0" marL="0">
              <a:lnSpc>
                <a:spcPct val="120000"/>
              </a:lnSpc>
              <a:buNone/>
            </a:pPr>
            <a:r>
              <a:rPr lang="en-US" sz="1100" dirty="0">
                <a:solidFill>
                  <a:srgbClr val="E2E8F0"/>
                </a:solidFill>
                <a:latin typeface="Arial" pitchFamily="34" charset="0"/>
                <a:ea typeface="Arial" pitchFamily="34" charset="-122"/>
                <a:cs typeface="Arial" pitchFamily="34" charset="-120"/>
              </a:rPr>
              <a:t>Government pilot deployment — 12 weeks to operational proof</a:t>
            </a:r>
            <a:endParaRPr lang="en-US" sz="1300" dirty="0"/>
          </a:p>
        </p:txBody>
      </p:sp>
      <p:sp>
        <p:nvSpPr>
          <p:cNvPr id="7" name="Shape 5"/>
          <p:cNvSpPr/>
          <p:nvPr/>
        </p:nvSpPr>
        <p:spPr>
          <a:xfrm>
            <a:off x="0" y="4663440"/>
            <a:ext cx="9144000" cy="484632"/>
          </a:xfrm>
          <a:prstGeom prst="rect">
            <a:avLst/>
          </a:prstGeom>
          <a:solidFill>
            <a:srgbClr val="0D1520"/>
          </a:solidFill>
          <a:ln/>
        </p:spPr>
      </p:sp>
      <p:sp>
        <p:nvSpPr>
          <p:cNvPr id="8" name="Text 6"/>
          <p:cNvSpPr/>
          <p:nvPr/>
        </p:nvSpPr>
        <p:spPr>
          <a:xfrm>
            <a:off x="640080" y="4727448"/>
            <a:ext cx="4572000" cy="32004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Contact: investment@globalrecordgovernance.com</a:t>
            </a:r>
            <a:endParaRPr lang="en-US" sz="1000" dirty="0"/>
          </a:p>
        </p:txBody>
      </p:sp>
      <p:sp>
        <p:nvSpPr>
          <p:cNvPr id="9" name="Text 7"/>
          <p:cNvSpPr/>
          <p:nvPr/>
        </p:nvSpPr>
        <p:spPr>
          <a:xfrm>
            <a:off x="4572000" y="4727448"/>
            <a:ext cx="4114800"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globalrecordgovernance.com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GRGF — Global Record Governance Framework</dc:title>
  <dc:subject>PptxGenJS Presentation</dc:subject>
  <dc:creator>Tarek Wahid</dc:creator>
  <cp:lastModifiedBy>Tarek Wahid</cp:lastModifiedBy>
  <cp:revision>1</cp:revision>
  <dcterms:created xsi:type="dcterms:W3CDTF">2026-03-30T21:45:50Z</dcterms:created>
  <dcterms:modified xsi:type="dcterms:W3CDTF">2026-03-30T21:45:50Z</dcterms:modified>
</cp:coreProperties>
</file>